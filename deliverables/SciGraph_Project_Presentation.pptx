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5861391d1f4867" /><Relationship Type="http://schemas.openxmlformats.org/officeDocument/2006/relationships/extended-properties" Target="/docProps/app.xml" Id="R5127840597fe483a" /><Relationship Type="http://schemas.openxmlformats.org/officeDocument/2006/relationships/officeDocument" Target="/ppt/presentation.xml" Id="Rdd9f82810bd545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12929b6d1340f5"/>
  </p:sldMasterIdLst>
  <p:notesMasterIdLst>
    <p:notesMasterId xmlns:r="http://schemas.openxmlformats.org/officeDocument/2006/relationships" r:id="Ra3dab1b81a804b34"/>
  </p:notesMasterIdLst>
  <p:sldIdLst>
    <p:sldId xmlns:r="http://schemas.openxmlformats.org/officeDocument/2006/relationships" id="256" r:id="R2ea104ac34dd4620"/>
    <p:sldId xmlns:r="http://schemas.openxmlformats.org/officeDocument/2006/relationships" id="257" r:id="R849f4f7de9b249b3"/>
    <p:sldId xmlns:r="http://schemas.openxmlformats.org/officeDocument/2006/relationships" id="258" r:id="R40ae212f8d644737"/>
    <p:sldId xmlns:r="http://schemas.openxmlformats.org/officeDocument/2006/relationships" id="259" r:id="R8804f38473844322"/>
    <p:sldId xmlns:r="http://schemas.openxmlformats.org/officeDocument/2006/relationships" id="260" r:id="Rd53f3e2ea712453a"/>
    <p:sldId xmlns:r="http://schemas.openxmlformats.org/officeDocument/2006/relationships" id="261" r:id="R8dc49a0f7bbb4a0d"/>
    <p:sldId xmlns:r="http://schemas.openxmlformats.org/officeDocument/2006/relationships" id="262" r:id="Rc2075c4157824ed8"/>
    <p:sldId xmlns:r="http://schemas.openxmlformats.org/officeDocument/2006/relationships" id="263" r:id="R40729be47aa14d29"/>
    <p:sldId xmlns:r="http://schemas.openxmlformats.org/officeDocument/2006/relationships" id="264" r:id="R9088229dd3514040"/>
    <p:sldId xmlns:r="http://schemas.openxmlformats.org/officeDocument/2006/relationships" id="265" r:id="Ra5808fda04bb48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190eb26f754e61" /><Relationship Type="http://schemas.openxmlformats.org/officeDocument/2006/relationships/slideMaster" Target="/ppt/slideMasters/slideMaster1.xml" Id="R6b12929b6d1340f5" /><Relationship Type="http://schemas.openxmlformats.org/officeDocument/2006/relationships/notesMaster" Target="/ppt/notesMasters/notesMaster1.xml" Id="Ra3dab1b81a804b34" /><Relationship Type="http://schemas.openxmlformats.org/officeDocument/2006/relationships/presProps" Target="/ppt/presProps.xml" Id="R14ed3b528b624c74" /><Relationship Type="http://schemas.openxmlformats.org/officeDocument/2006/relationships/tableStyles" Target="/ppt/tableStyles.xml" Id="Rafc4ab34ffe4462b" /><Relationship Type="http://schemas.openxmlformats.org/officeDocument/2006/relationships/slide" Target="/ppt/slides/slide1.xml" Id="R2ea104ac34dd4620" /><Relationship Type="http://schemas.openxmlformats.org/officeDocument/2006/relationships/slide" Target="/ppt/slides/slide2.xml" Id="R849f4f7de9b249b3" /><Relationship Type="http://schemas.openxmlformats.org/officeDocument/2006/relationships/slide" Target="/ppt/slides/slide3.xml" Id="R40ae212f8d644737" /><Relationship Type="http://schemas.openxmlformats.org/officeDocument/2006/relationships/slide" Target="/ppt/slides/slide4.xml" Id="R8804f38473844322" /><Relationship Type="http://schemas.openxmlformats.org/officeDocument/2006/relationships/slide" Target="/ppt/slides/slide5.xml" Id="Rd53f3e2ea712453a" /><Relationship Type="http://schemas.openxmlformats.org/officeDocument/2006/relationships/slide" Target="/ppt/slides/slide6.xml" Id="R8dc49a0f7bbb4a0d" /><Relationship Type="http://schemas.openxmlformats.org/officeDocument/2006/relationships/slide" Target="/ppt/slides/slide7.xml" Id="Rc2075c4157824ed8" /><Relationship Type="http://schemas.openxmlformats.org/officeDocument/2006/relationships/slide" Target="/ppt/slides/slide8.xml" Id="R40729be47aa14d29" /><Relationship Type="http://schemas.openxmlformats.org/officeDocument/2006/relationships/slide" Target="/ppt/slides/slide9.xml" Id="R9088229dd3514040" /><Relationship Type="http://schemas.openxmlformats.org/officeDocument/2006/relationships/slide" Target="/ppt/slides/slide10.xml" Id="Ra5808fda04bb48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7f5990c0794f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e6f3b2f5a94c3d" /><Relationship Type="http://schemas.openxmlformats.org/officeDocument/2006/relationships/notesMaster" Target="/ppt/notesMasters/notesMaster1.xml" Id="Recda4eb13d3d47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ae86c399434425" /><Relationship Type="http://schemas.openxmlformats.org/officeDocument/2006/relationships/notesMaster" Target="/ppt/notesMasters/notesMaster1.xml" Id="Rfa065f95588d4a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9770b747f048ab" /><Relationship Type="http://schemas.openxmlformats.org/officeDocument/2006/relationships/notesMaster" Target="/ppt/notesMasters/notesMaster1.xml" Id="R1ced019f75fc4b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51f922982d4116" /><Relationship Type="http://schemas.openxmlformats.org/officeDocument/2006/relationships/notesMaster" Target="/ppt/notesMasters/notesMaster1.xml" Id="R2bb05382de2043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50b9abf64f453f" /><Relationship Type="http://schemas.openxmlformats.org/officeDocument/2006/relationships/notesMaster" Target="/ppt/notesMasters/notesMaster1.xml" Id="R45ef5f6f09e34a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28bda6386e43e5" /><Relationship Type="http://schemas.openxmlformats.org/officeDocument/2006/relationships/notesMaster" Target="/ppt/notesMasters/notesMaster1.xml" Id="R8767011510c84b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81bc64bc5c4b6f" /><Relationship Type="http://schemas.openxmlformats.org/officeDocument/2006/relationships/notesMaster" Target="/ppt/notesMasters/notesMaster1.xml" Id="Re37d8f8ebab94a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bb8dae7c684d8e" /><Relationship Type="http://schemas.openxmlformats.org/officeDocument/2006/relationships/notesMaster" Target="/ppt/notesMasters/notesMaster1.xml" Id="R97df3647bc934b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b20c251eae49f3" /><Relationship Type="http://schemas.openxmlformats.org/officeDocument/2006/relationships/notesMaster" Target="/ppt/notesMasters/notesMaster1.xml" Id="R32459fa9cf3a4c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4a90c1dabb14b88" /><Relationship Type="http://schemas.openxmlformats.org/officeDocument/2006/relationships/notesMaster" Target="/ppt/notesMasters/notesMaster1.xml" Id="R156e0e1148a147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reports/results/schema_summary.json; reports/results/bronze_silver_gold_report.json; docs/VISUALIZATIONS.md. Metrics reflect the completed 2,500-record development run, not the in-progress 1,000,000-record production acquisition.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docs/PROJECT_REPORT.md; reports/figures/feature_mart_availability.png. Metrics reflect the completed 2,500-record development run, not the in-progress 1,000,000-record production acquisition.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docs/ARCHITECTURE.md; docs/PROJECT_REPORT.md. Metrics reflect the completed 2,500-record development run, not the in-progress 1,000,000-record production acquisition.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reports/results/schema_summary.json; reports/figures/dataset_publications_by_year.png. Metrics reflect the completed 2,500-record development run, not the in-progress 1,000,000-record production acquisition.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reports/results/data_quality_report.json; reports/results/bronze_silver_gold_report.json; reports/figures/data_quality_checks.png; reports/figures/pipeline_stage_counts.png. Metrics reflect the completed 2,500-record development run, not the in-progress 1,000,000-record production acquisition.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reports/results/text_analysis_report.json; reports/results/clustering_report.json; reports/figures/text_top_terms.png; reports/figures/clustering_results.png. Metrics reflect the completed 2,500-record development run, not the in-progress 1,000,000-record production acquisition.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reports/results/citation_graph_report.json; reports/results/author_collaboration_report.json; reports/results/temporal_analysis_report.json. Metrics reflect the completed 2,500-record development run, not the in-progress 1,000,000-record production acquisition.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reports/results/retrieval_report.json; reports/results/advanced_retrieval_results.json; reports/results/ml_citation_prediction_report.json. Metrics reflect the completed 2,500-record development run, not the in-progress 1,000,000-record production acquisition.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reports/results/feature_mart_report.json; docs/PROJECT_REPORT.md; docs/VISUALIZATIONS.md. Metrics reflect the completed 2,500-record development run, not the in-progress 1,000,000-record production acquisition.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docs/LIMITATIONS.md; docs/PROJECT_REPORT.md. Metrics reflect the completed 2,500-record development run, not the in-progress 1,000,000-record production acquisition.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afd4112bb444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3ba3800f21439b" /><Relationship Type="http://schemas.openxmlformats.org/officeDocument/2006/relationships/slideLayout" Target="/ppt/slideLayouts/slideLayout1.xml" Id="R82e51ac418234c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e51ac418234c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67cc96dba4c71" /><Relationship Type="http://schemas.openxmlformats.org/officeDocument/2006/relationships/notesSlide" Target="/ppt/notesSlides/notesSlide1.xml" Id="R1d47497c76214c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cea53fc854941" /><Relationship Type="http://schemas.openxmlformats.org/officeDocument/2006/relationships/image" Target="/ppt/media/image.png" Id="R5655dff8c96143e8" /><Relationship Type="http://schemas.openxmlformats.org/officeDocument/2006/relationships/notesSlide" Target="/ppt/notesSlides/notesSlide2.xml" Id="Rcf84669c6e8843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966e4199b4b2b" /><Relationship Type="http://schemas.openxmlformats.org/officeDocument/2006/relationships/notesSlide" Target="/ppt/notesSlides/notesSlide3.xml" Id="R7745984bdf4c43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f07a6c8e2349fd" /><Relationship Type="http://schemas.openxmlformats.org/officeDocument/2006/relationships/image" Target="/ppt/media/image2.png" Id="Re8b1127bf2a74847" /><Relationship Type="http://schemas.openxmlformats.org/officeDocument/2006/relationships/notesSlide" Target="/ppt/notesSlides/notesSlide4.xml" Id="R8471c971a18249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cc3bdd3c044e0" /><Relationship Type="http://schemas.openxmlformats.org/officeDocument/2006/relationships/image" Target="/ppt/media/image3.png" Id="R16ad4675bc8b4456" /><Relationship Type="http://schemas.openxmlformats.org/officeDocument/2006/relationships/image" Target="/ppt/media/image4.png" Id="Rae4c8f6b378045c0" /><Relationship Type="http://schemas.openxmlformats.org/officeDocument/2006/relationships/notesSlide" Target="/ppt/notesSlides/notesSlide5.xml" Id="Rfbe27214bbf84e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c26841b8642b5" /><Relationship Type="http://schemas.openxmlformats.org/officeDocument/2006/relationships/image" Target="/ppt/media/image5.png" Id="Ra64677f675344fdf" /><Relationship Type="http://schemas.openxmlformats.org/officeDocument/2006/relationships/image" Target="/ppt/media/image6.png" Id="Rcbd0694367ff48f5" /><Relationship Type="http://schemas.openxmlformats.org/officeDocument/2006/relationships/notesSlide" Target="/ppt/notesSlides/notesSlide6.xml" Id="Rd5b8875f165443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3261a83664491" /><Relationship Type="http://schemas.openxmlformats.org/officeDocument/2006/relationships/image" Target="/ppt/media/image7.png" Id="Rbe4958fd9ef64553" /><Relationship Type="http://schemas.openxmlformats.org/officeDocument/2006/relationships/image" Target="/ppt/media/image8.png" Id="R554f0cc41f0c49d4" /><Relationship Type="http://schemas.openxmlformats.org/officeDocument/2006/relationships/notesSlide" Target="/ppt/notesSlides/notesSlide7.xml" Id="R14092bee0c624a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92357783640d0" /><Relationship Type="http://schemas.openxmlformats.org/officeDocument/2006/relationships/notesSlide" Target="/ppt/notesSlides/notesSlide8.xml" Id="R4bd376de7c6d4c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64bc83e5740e8" /><Relationship Type="http://schemas.openxmlformats.org/officeDocument/2006/relationships/image" Target="/ppt/media/image9.png" Id="R176ac2151a0d4d7b" /><Relationship Type="http://schemas.openxmlformats.org/officeDocument/2006/relationships/image" Target="/ppt/media/image10.png" Id="R022ac7cad761409b" /><Relationship Type="http://schemas.openxmlformats.org/officeDocument/2006/relationships/notesSlide" Target="/ppt/notesSlides/notesSlide9.xml" Id="R202dad9f28e540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fa60b934b44ef" /><Relationship Type="http://schemas.openxmlformats.org/officeDocument/2006/relationships/notesSlide" Target="/ppt/notesSlides/notesSlide10.xml" Id="R102de1ec546347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EDC8D2-663A-4C86-B767-D56D07E4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57875"/>
            <a:ext cx="12192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982BC-B7D4-424E-B188-E740AA44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SciGraph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6DDC2C-F773-4FE8-ABB1-07BB060F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FE6E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FE6E6"/>
                </a:solidFill>
                <a:latin typeface="Arial"/>
                <a:ea typeface="Arial"/>
                <a:cs typeface="Arial"/>
              </a:rPr>
              <a:t>Scalable scientific literature intelligence over OpenAlex metadata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A374C-4188-4F34-90B0-B50A803A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reproducible Spark pipeline with text, graph, temporal, retrieval, ML, ranking, and visualization outputs.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912CB-B6C7-44A2-A2FB-789714C5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2,500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ACAD3B-3C27-46A3-837B-0333FFFA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OpenAlex article records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FA082C-6BC6-43DF-BF5A-46B1BCD0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3624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53,877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AE982D-E4F0-435E-ABBF-61D2C3DD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8196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Gold citation edges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B9C00A-9F3C-4B5C-A60A-AADFFB3B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3624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AEB36-9FF2-440D-8C90-56B51553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8196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Generated figures</a:t>
            </a:r>
          </a:p>
        </p:txBody>
      </p:sp>
    </p:spTree>
    <p:extLst>
      <p:ext uri="{BB962C8B-B14F-4D97-AF65-F5344CB8AC3E}">
        <p14:creationId xmlns:p14="http://schemas.microsoft.com/office/powerpoint/2010/main" val="72180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F82FAF-3050-40E1-856F-446E9731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D72BF1-B359-482A-8A7A-891E31C7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FBC6AB-7E2A-4719-A209-6869187C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Project Objective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C19F6-4DFD-4B24-BF7D-2B1BF5AB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E6B78"/>
                </a:solidFill>
                <a:latin typeface="Arial"/>
                <a:ea typeface="Arial"/>
                <a:cs typeface="Arial"/>
              </a:rPr>
              <a:t>Build a transparent literature analytics system without relying on an LLM-only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5733A-CC72-4DAE-916A-DC6990BE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4953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The project turns raw scholarly metadata into analysis-ready tables, reports, and visual evidence. The emphasis is on reproducibility, measured results, and clear limitations.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DA8C2-1274-4819-AC97-AAA3EFB3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1. Acquire OpenAlex article records with abstracts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6974D-5682-44A0-85B8-0D39D1CC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2. Normalize nested metadata with Spark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7B9570-DB8A-4A2E-A2E6-A84AB217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814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3. Analyze text, citation links, collaboration, and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4DDBB8-4D80-464B-A33D-B1D0E069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196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4. Compare sparse, dense, hybrid, and graph-aware retrieval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F041A9-58ED-450B-9329-BDF46CE2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57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5. Publish a feature mart, figures, notebook, and final report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55dff8c96143e8"/>
          <a:stretch xmlns:a="http://schemas.openxmlformats.org/drawingml/2006/main"/>
        </p:blipFill>
        <p:spPr>
          <a:xfrm xmlns:a="http://schemas.openxmlformats.org/drawingml/2006/main">
            <a:off x="7239000" y="2055019"/>
            <a:ext cx="4095750" cy="22526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0491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A20F83-8A02-493E-9721-A609DA46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92A217-1374-473A-A38C-29666E3F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C66C45-64B6-4E0E-8867-49EFEB4E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74BC4-F20D-47E5-9C53-CA9F19E4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E6B78"/>
                </a:solidFill>
                <a:latin typeface="Arial"/>
                <a:ea typeface="Arial"/>
                <a:cs typeface="Arial"/>
              </a:rPr>
              <a:t>A layered pipeline keeps raw data, normalized tables, and analysis outputs separate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5E8D1-FC6B-413A-ABC7-318F412D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1524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AF6F6"/>
          </a:solidFill>
          <a:ln xmlns:a="http://schemas.openxmlformats.org/drawingml/2006/main" w="9525">
            <a:solidFill>
              <a:srgbClr val="D8E0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7FB703-86AA-4141-9861-3978EA6D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7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OpenAlex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73B204-7C09-4832-9283-442C4933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219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Raw JSONL metadata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FF259-61F4-4326-A441-AD056AC7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90800"/>
            <a:ext cx="51435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D7BD87-0BB5-47CF-B5F1-22154627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095500"/>
            <a:ext cx="1524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5F0E8"/>
          </a:solidFill>
          <a:ln xmlns:a="http://schemas.openxmlformats.org/drawingml/2006/main" w="9525">
            <a:solidFill>
              <a:srgbClr val="D8E0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CF6277-47E9-407F-A51F-C16CD0E8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050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Bronze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9ABEDC-9833-4AF4-BF69-22BE2455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81300"/>
            <a:ext cx="1219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Raw nested Spark table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A7E8A3-9E4C-4408-BAFB-6E7BED4E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90800"/>
            <a:ext cx="51435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490D7-33FB-4C35-9FA0-130F2C95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095500"/>
            <a:ext cx="1524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AF6F6"/>
          </a:solidFill>
          <a:ln xmlns:a="http://schemas.openxmlformats.org/drawingml/2006/main" w="9525">
            <a:solidFill>
              <a:srgbClr val="D8E0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39427D-FFC8-4FA3-B56B-2A2986DC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050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Silver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C972BF-375F-481D-A354-9CF203E4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81300"/>
            <a:ext cx="1219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Publication-level normalization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1837C9-5E04-423F-B044-A3BC9EC4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90800"/>
            <a:ext cx="51435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A359C2-3428-4749-86EC-7E8ADE83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095500"/>
            <a:ext cx="1524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5F0E8"/>
          </a:solidFill>
          <a:ln xmlns:a="http://schemas.openxmlformats.org/drawingml/2006/main" w="9525">
            <a:solidFill>
              <a:srgbClr val="D8E0E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6E0336-B7A5-42D9-9326-6B00DA94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050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Gold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6DFE73-089C-4F98-BC68-80D0F5B6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81300"/>
            <a:ext cx="1219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Publications, authors, citations, topics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EB4281-CC7E-4802-9F19-811AFA18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90800"/>
            <a:ext cx="51435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25DF4E-388D-4A32-AB65-10FF2F7D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95500"/>
            <a:ext cx="1524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AF6F6"/>
          </a:solidFill>
          <a:ln xmlns:a="http://schemas.openxmlformats.org/drawingml/2006/main" w="9525">
            <a:solidFill>
              <a:srgbClr val="D8E0E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BF41FE-E107-46EE-9F40-9F8ADBCE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050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C554A6-92FB-475E-A256-31FC6ABD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81300"/>
            <a:ext cx="1219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Text, graph, temporal, retrieval, ML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F0C206-C2BF-49F5-84D3-0AC8448F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90800"/>
            <a:ext cx="51435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AB1897-39A9-4879-AB83-7EE773C9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95500"/>
            <a:ext cx="1524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5F0E8"/>
          </a:solidFill>
          <a:ln xmlns:a="http://schemas.openxmlformats.org/drawingml/2006/main" w="9525">
            <a:solidFill>
              <a:srgbClr val="D8E0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F415A8-C709-4717-A7A7-BE23CF21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050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B0E976-E502-4CF0-96D1-D2EE01BA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81300"/>
            <a:ext cx="1219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Reports, figures, tables, notebook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3107F8-3E04-4731-8CA5-EC635DA7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767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Storage pattern: Parquet tables for data, JSON for metrics, Markdown for interpretation, PNG for figures.</a:t>
            </a:r>
          </a:p>
        </p:txBody>
      </p:sp>
    </p:spTree>
    <p:extLst>
      <p:ext uri="{BB962C8B-B14F-4D97-AF65-F5344CB8AC3E}">
        <p14:creationId xmlns:p14="http://schemas.microsoft.com/office/powerpoint/2010/main" val="18765517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CA30A8-E313-44EE-ACAF-1FFAFEA9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E2DAF3-7476-4984-AE74-89B2A205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0D37C-8F1C-4D23-B925-D0C3CF62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Dataset And Scale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C9E6A-B33A-475F-AD1D-10B2DB18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E6B78"/>
                </a:solidFill>
                <a:latin typeface="Arial"/>
                <a:ea typeface="Arial"/>
                <a:cs typeface="Arial"/>
              </a:rPr>
              <a:t>The completed run uses a larger 2,500-record sample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4476750" cy="2952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38375"/>
                <a:gridCol w="2238375"/>
              </a:tblGrid>
              <a:tr h="492125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 marL="91440" marR="91440" marT="45720" marB="45720"/>
                </a:tc>
              </a:tr>
              <a:tr h="492125">
                <a:tc>
                  <a:txBody>
                    <a:bodyPr/>
                    <a:lstStyle/>
                    <a:p>
                      <a:r>
                        <a:t>Records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2500</a:t>
                      </a:r>
                    </a:p>
                  </a:txBody>
                  <a:tcPr marL="91440" marR="91440" marT="45720" marB="45720"/>
                </a:tc>
              </a:tr>
              <a:tr h="492125">
                <a:tc>
                  <a:txBody>
                    <a:bodyPr/>
                    <a:lstStyle/>
                    <a:p>
                      <a:r>
                        <a:t>Publication years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2020-2026</a:t>
                      </a:r>
                    </a:p>
                  </a:txBody>
                  <a:tcPr marL="91440" marR="91440" marT="45720" marB="45720"/>
                </a:tc>
              </a:tr>
              <a:tr h="492125">
                <a:tc>
                  <a:txBody>
                    <a:bodyPr/>
                    <a:lstStyle/>
                    <a:p>
                      <a:r>
                        <a:t>Unique authors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9274</a:t>
                      </a:r>
                    </a:p>
                  </a:txBody>
                  <a:tcPr marL="91440" marR="91440" marT="45720" marB="45720"/>
                </a:tc>
              </a:tr>
              <a:tr h="492125">
                <a:tc>
                  <a:txBody>
                    <a:bodyPr/>
                    <a:lstStyle/>
                    <a:p>
                      <a:r>
                        <a:t>Referenced works observed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53900</a:t>
                      </a:r>
                    </a:p>
                  </a:txBody>
                  <a:tcPr marL="91440" marR="91440" marT="45720" marB="45720"/>
                </a:tc>
              </a:tr>
              <a:tr h="492125">
                <a:tc>
                  <a:txBody>
                    <a:bodyPr/>
                    <a:lstStyle/>
                    <a:p>
                      <a:r>
                        <a:t>Document type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article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b1127bf2a74847"/>
          <a:stretch xmlns:a="http://schemas.openxmlformats.org/drawingml/2006/main"/>
        </p:blipFill>
        <p:spPr>
          <a:xfrm xmlns:a="http://schemas.openxmlformats.org/drawingml/2006/main">
            <a:off x="5905500" y="1681163"/>
            <a:ext cx="5143500" cy="28289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2AEEF-A1E4-483E-A01D-F37147E1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The sample remains heterogeneous, which helps test the pipeline but weakens claims about field-specific clusters.</a:t>
            </a:r>
          </a:p>
        </p:txBody>
      </p:sp>
    </p:spTree>
    <p:extLst>
      <p:ext uri="{BB962C8B-B14F-4D97-AF65-F5344CB8AC3E}">
        <p14:creationId xmlns:p14="http://schemas.microsoft.com/office/powerpoint/2010/main" val="2777997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484710-95FC-47AC-AFE4-D9B904CE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47F5C9-F716-496C-8AC9-387687D5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22639-F38D-40F9-AF2B-B3E90B4A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Data Quality And Spark Outputs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3FEE5-12A4-4F37-BA85-6668E799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E6B78"/>
                </a:solidFill>
                <a:latin typeface="Arial"/>
                <a:ea typeface="Arial"/>
                <a:cs typeface="Arial"/>
              </a:rPr>
              <a:t>No blocking quality errors appeared in the completed run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CC524-C4A1-40E5-8302-C48281D6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8C8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18C8B"/>
                </a:solidFill>
                <a:latin typeface="Arial"/>
                <a:ea typeface="Arial"/>
                <a:cs typeface="Arial"/>
              </a:rPr>
              <a:t>2500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C43431-958A-4BA7-8DAC-1C61723B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Gold publications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6F675-F4D7-4EB7-AAF5-6803FA43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4478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F6FB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F6FBB"/>
                </a:solidFill>
                <a:latin typeface="Arial"/>
                <a:ea typeface="Arial"/>
                <a:cs typeface="Arial"/>
              </a:rPr>
              <a:t>9274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2052A5-7A74-462B-AD99-3E625DA9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9050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Gold authors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46E1F-0591-40EA-A744-743D499C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4478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53877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87573D-2B93-4BFD-8E71-CE095697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050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Citation edges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ad4675bc8b4456"/>
          <a:stretch xmlns:a="http://schemas.openxmlformats.org/drawingml/2006/main"/>
        </p:blipFill>
        <p:spPr>
          <a:xfrm xmlns:a="http://schemas.openxmlformats.org/drawingml/2006/main">
            <a:off x="876300" y="3018234"/>
            <a:ext cx="4333875" cy="2383631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4c8f6b378045c0"/>
          <a:stretch xmlns:a="http://schemas.openxmlformats.org/drawingml/2006/main"/>
        </p:blipFill>
        <p:spPr>
          <a:xfrm xmlns:a="http://schemas.openxmlformats.org/drawingml/2006/main">
            <a:off x="6229350" y="3018234"/>
            <a:ext cx="4333875" cy="238363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1075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387809-62FD-4E64-949E-ABD9D365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7A97D-4A3C-4458-AA1F-1A9AE374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6F8FA3-6179-42B1-92B1-5CCFD4A3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Text Analysis And Clustering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6E6DA-3045-4235-9FA2-BE1A5CBF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E6B78"/>
                </a:solidFill>
                <a:latin typeface="Arial"/>
                <a:ea typeface="Arial"/>
                <a:cs typeface="Arial"/>
              </a:rPr>
              <a:t>Text features scale, but clusters remain exploratory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9335B-7815-4A0B-B3FD-3689FA8D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8C8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18C8B"/>
                </a:solidFill>
                <a:latin typeface="Arial"/>
                <a:ea typeface="Arial"/>
                <a:cs typeface="Arial"/>
              </a:rPr>
              <a:t>1793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40EF03-1973-4BB6-8575-58239478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English text documents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FBED4-FF95-4490-BBAB-1B4043B0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525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F6FB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F6FBB"/>
                </a:solidFill>
                <a:latin typeface="Arial"/>
                <a:ea typeface="Arial"/>
                <a:cs typeface="Arial"/>
              </a:rPr>
              <a:t>26728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D7FE0-59E4-46E6-9FEE-9C114191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97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Retained vocabulary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4E4C46-6076-44D0-8461-8946FAC5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3525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42BF92-FAE8-4A4E-88D2-4F0AEB8D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8097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Selected K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4677f675344fdf"/>
          <a:stretch xmlns:a="http://schemas.openxmlformats.org/drawingml/2006/main"/>
        </p:blipFill>
        <p:spPr>
          <a:xfrm xmlns:a="http://schemas.openxmlformats.org/drawingml/2006/main">
            <a:off x="685800" y="2862263"/>
            <a:ext cx="4762500" cy="2619375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0694367ff48f5"/>
          <a:stretch xmlns:a="http://schemas.openxmlformats.org/drawingml/2006/main"/>
        </p:blipFill>
        <p:spPr>
          <a:xfrm xmlns:a="http://schemas.openxmlformats.org/drawingml/2006/main">
            <a:off x="6153150" y="3089564"/>
            <a:ext cx="4762500" cy="216477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2872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A7272B-E670-41FC-8289-83934F6B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BD074-DB8B-4AF2-90D1-9563D03F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BE4F94-BFA8-45BE-B4EC-00CFCCDE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Graph And Temporal Signals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AE7AA-84AA-4FB5-8179-D024ED86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E6B78"/>
                </a:solidFill>
                <a:latin typeface="Arial"/>
                <a:ea typeface="Arial"/>
                <a:cs typeface="Arial"/>
              </a:rPr>
              <a:t>Collaboration is informative, while sampled citation links remain sparse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14DA2-F6E2-4719-8D05-E2A26FC1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Citation graph: 53,877 full edges, but 0 in-sample citation edges. PageRank is therefore limited for ranking sampled papers.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6687E-A580-41E8-887F-280BA634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Author graph: 9,274 authors and 33,104 coauthor edges across the current sample.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E956B-D4F7-4502-A474-184D3FB0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Temporal analysis: 7 year buckets and 5,566 topic-year rows.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4958fd9ef64553"/>
          <a:stretch xmlns:a="http://schemas.openxmlformats.org/drawingml/2006/main"/>
        </p:blipFill>
        <p:spPr>
          <a:xfrm xmlns:a="http://schemas.openxmlformats.org/drawingml/2006/main">
            <a:off x="6323301" y="1200150"/>
            <a:ext cx="4069773" cy="2238375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4f0cc41f0c49d4"/>
          <a:stretch xmlns:a="http://schemas.openxmlformats.org/drawingml/2006/main"/>
        </p:blipFill>
        <p:spPr>
          <a:xfrm xmlns:a="http://schemas.openxmlformats.org/drawingml/2006/main">
            <a:off x="6539778" y="3638550"/>
            <a:ext cx="3636818" cy="200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4590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ADAEC3-E1CF-4E3B-9D4E-DEAFDB8B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66BE2-79A1-42E8-A40B-5927899F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F5801-8D36-4A86-BD49-53236948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Retrieval And ML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37642B-9A97-4B17-9015-C8F18CF6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E6B78"/>
                </a:solidFill>
                <a:latin typeface="Arial"/>
                <a:ea typeface="Arial"/>
                <a:cs typeface="Arial"/>
              </a:rPr>
              <a:t>Graph-aware reranking produced the strongest NDCG in the current comparison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52450" y="1314450"/>
          <a:ext xmlns:a="http://schemas.openxmlformats.org/drawingml/2006/main" cx="6667500" cy="29051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33500"/>
                <a:gridCol w="1333500"/>
                <a:gridCol w="1333500"/>
                <a:gridCol w="1333500"/>
                <a:gridCol w="1333500"/>
              </a:tblGrid>
              <a:tr h="484188">
                <a:tc>
                  <a:txBody>
                    <a:bodyPr/>
                    <a:lstStyle/>
                    <a:p>
                      <a:r>
                        <a:t>System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P@10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Recall@10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MRR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NDCG@10</a:t>
                      </a:r>
                    </a:p>
                  </a:txBody>
                  <a:tcPr marL="91440" marR="91440" marT="45720" marB="45720"/>
                </a:tc>
              </a:tr>
              <a:tr h="484188">
                <a:tc>
                  <a:txBody>
                    <a:bodyPr/>
                    <a:lstStyle/>
                    <a:p>
                      <a:r>
                        <a:t>bm25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0.37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0.62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0.54</a:t>
                      </a:r>
                    </a:p>
                  </a:txBody>
                  <a:tcPr marL="91440" marR="91440" marT="45720" marB="45720"/>
                </a:tc>
              </a:tr>
              <a:tr h="484188">
                <a:tc>
                  <a:txBody>
                    <a:bodyPr/>
                    <a:lstStyle/>
                    <a:p>
                      <a:r>
                        <a:t>dense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0.18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0.41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0.20</a:t>
                      </a:r>
                    </a:p>
                  </a:txBody>
                  <a:tcPr marL="91440" marR="91440" marT="45720" marB="45720"/>
                </a:tc>
              </a:tr>
              <a:tr h="484188">
                <a:tc>
                  <a:txBody>
                    <a:bodyPr/>
                    <a:lstStyle/>
                    <a:p>
                      <a:r>
                        <a:t>hybrid reranked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0.44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0.32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0.57</a:t>
                      </a:r>
                    </a:p>
                  </a:txBody>
                  <a:tcPr marL="91440" marR="91440" marT="45720" marB="45720"/>
                </a:tc>
              </a:tr>
              <a:tr h="484188">
                <a:tc>
                  <a:txBody>
                    <a:bodyPr/>
                    <a:lstStyle/>
                    <a:p>
                      <a:r>
                        <a:t>hybrid reranked graph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0.46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0.37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0.62</a:t>
                      </a:r>
                    </a:p>
                  </a:txBody>
                  <a:tcPr marL="91440" marR="91440" marT="45720" marB="45720"/>
                </a:tc>
              </a:tr>
              <a:tr h="484188">
                <a:tc>
                  <a:txBody>
                    <a:bodyPr/>
                    <a:lstStyle/>
                    <a:p>
                      <a:r>
                        <a:t>hybrid rrf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0.36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0.43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495DC-19E3-423E-B754-50E8C30A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8C8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18C8B"/>
                </a:solidFill>
                <a:latin typeface="Arial"/>
                <a:ea typeface="Arial"/>
                <a:cs typeface="Arial"/>
              </a:rPr>
              <a:t>0.6188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D7BFA-15C7-4029-9A79-535914DE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8859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Best NDCG@10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94DD6E-47EE-47B6-BF1E-822C184D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860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F6FB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F6FBB"/>
                </a:solidFill>
                <a:latin typeface="Arial"/>
                <a:ea typeface="Arial"/>
                <a:cs typeface="Arial"/>
              </a:rPr>
              <a:t>0.36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F4282F-92AD-46EB-A3A5-692B11A6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432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Sparse P@10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254130-9E95-40EC-8148-F035BC32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9433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0.9174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20A761-F52B-4849-B8CA-267AA5C1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4005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Citation model AUC</a:t>
            </a:r>
          </a:p>
        </p:txBody>
      </p:sp>
    </p:spTree>
    <p:extLst>
      <p:ext uri="{BB962C8B-B14F-4D97-AF65-F5344CB8AC3E}">
        <p14:creationId xmlns:p14="http://schemas.microsoft.com/office/powerpoint/2010/main" val="20673515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16711A-3285-416C-86CB-F201E7B5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A64B59-5306-42F9-B3E0-1453D42F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2FBCC0-80F7-4A04-BADE-AF46771C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Feature Mart And Review Artifacts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67E1E-2E34-46C3-9148-22887101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E6B78"/>
                </a:solidFill>
                <a:latin typeface="Arial"/>
                <a:ea typeface="Arial"/>
                <a:cs typeface="Arial"/>
              </a:rPr>
              <a:t>The project now has a single inspection surface plus presentation-ready outputs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671750-CC70-4267-8F4F-1B31AC80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The feature mart preserves 2,500 publication rows and 34 columns. Text-derived features cover 71.7% of rows, while ranking features cover 100.0%.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6ac2151a0d4d7b"/>
          <a:stretch xmlns:a="http://schemas.openxmlformats.org/drawingml/2006/main"/>
        </p:blipFill>
        <p:spPr>
          <a:xfrm xmlns:a="http://schemas.openxmlformats.org/drawingml/2006/main">
            <a:off x="6381750" y="1240631"/>
            <a:ext cx="4095750" cy="2252663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2ac7cad761409b"/>
          <a:stretch xmlns:a="http://schemas.openxmlformats.org/drawingml/2006/main"/>
        </p:blipFill>
        <p:spPr>
          <a:xfrm xmlns:a="http://schemas.openxmlformats.org/drawingml/2006/main">
            <a:off x="6762750" y="3752850"/>
            <a:ext cx="3333750" cy="2000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1BAA7-8F8E-4B12-912B-80779211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911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Review paths: PROJECT_REPORT.md, VISUALIZATIONS.md, reports/tables CSV files, and notebooks/scigraph_visual_summary.ipynb.</a:t>
            </a:r>
          </a:p>
        </p:txBody>
      </p:sp>
    </p:spTree>
    <p:extLst>
      <p:ext uri="{BB962C8B-B14F-4D97-AF65-F5344CB8AC3E}">
        <p14:creationId xmlns:p14="http://schemas.microsoft.com/office/powerpoint/2010/main" val="14510428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D86E70-D05F-45AB-B829-1D0AF231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835FC-E83D-43B3-BDAC-BCC5B59E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4E7B0-7BEB-4656-AAF0-F46C94AF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Limitations And 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0DFD25-CCE7-4741-AEA8-DF9B7F56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E6B78"/>
                </a:solidFill>
                <a:latin typeface="Arial"/>
                <a:ea typeface="Arial"/>
                <a:cs typeface="Arial"/>
              </a:rPr>
              <a:t>The strongest deliverable is the reproducible system and its measured evidence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66750" y="1381125"/>
          <a:ext xmlns:a="http://schemas.openxmlformats.org/drawingml/2006/main" cx="657225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286125"/>
                <a:gridCol w="3286125"/>
              </a:tblGrid>
              <a:tr h="628650">
                <a:tc>
                  <a:txBody>
                    <a:bodyPr/>
                    <a:lstStyle/>
                    <a:p>
                      <a:r>
                        <a:t>Current limitation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Why it matters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Heterogeneous sample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Clusters do not represent validated research fields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No in-sample citation edges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PageRank has limited value for sampled-paper ranking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Proxy retrieval labels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Metrics need human judgments for stronger claims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Static streaming replay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Production streaming would need checkpointed inputs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B41C3-A89B-404A-B301-A3B5458A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097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Recommended extensions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918B36-D64F-4D73-9DD7-325F3B49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6690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21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1. Acquire a field-specific or citation-neighborhood sample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C1358C-7A0D-4300-8430-78AF16FC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955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21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2. Add human relevance judgments for retrieval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4F4B2F-E2C4-4EC6-8127-71485DC5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12420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21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3. Build a semantic index with FAISS or Chroma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CA9F4A-0311-4B7A-A744-0B1101E9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528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21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4. Turn the notebook into an interactive dashboard</a:t>
            </a:r>
          </a:p>
        </p:txBody>
      </p:sp>
    </p:spTree>
    <p:extLst>
      <p:ext uri="{BB962C8B-B14F-4D97-AF65-F5344CB8AC3E}">
        <p14:creationId xmlns:p14="http://schemas.microsoft.com/office/powerpoint/2010/main" val="8696097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2026-10-06T06:11:07.4500000Z</dcterms:created>
  <dcterms:modified xsi:type="dcterms:W3CDTF">2026-10-06T06:11:07.4500000Z</dcterms:modified>
</coreProperties>
</file>