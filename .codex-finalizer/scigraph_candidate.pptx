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b2cfc287e14f43" /><Relationship Type="http://schemas.openxmlformats.org/officeDocument/2006/relationships/extended-properties" Target="/docProps/app.xml" Id="R18ff59334c44473b" /><Relationship Type="http://schemas.openxmlformats.org/officeDocument/2006/relationships/officeDocument" Target="/ppt/presentation.xml" Id="Rb5d81c3761cd4e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d140bdbcbb4d5a"/>
  </p:sldMasterIdLst>
  <p:notesMasterIdLst>
    <p:notesMasterId xmlns:r="http://schemas.openxmlformats.org/officeDocument/2006/relationships" r:id="R895a5b433b284f08"/>
  </p:notesMasterIdLst>
  <p:sldIdLst>
    <p:sldId xmlns:r="http://schemas.openxmlformats.org/officeDocument/2006/relationships" id="256" r:id="R303dbea7836c42c4"/>
    <p:sldId xmlns:r="http://schemas.openxmlformats.org/officeDocument/2006/relationships" id="257" r:id="R3e4c920b30de4078"/>
    <p:sldId xmlns:r="http://schemas.openxmlformats.org/officeDocument/2006/relationships" id="258" r:id="Rf8ba05bf032d426c"/>
    <p:sldId xmlns:r="http://schemas.openxmlformats.org/officeDocument/2006/relationships" id="259" r:id="R0fddfd96aa1148b8"/>
    <p:sldId xmlns:r="http://schemas.openxmlformats.org/officeDocument/2006/relationships" id="260" r:id="Rd2a5ff2c04a146e9"/>
    <p:sldId xmlns:r="http://schemas.openxmlformats.org/officeDocument/2006/relationships" id="261" r:id="R2f23bb156f6c4aa6"/>
    <p:sldId xmlns:r="http://schemas.openxmlformats.org/officeDocument/2006/relationships" id="262" r:id="R3c26a4d2054f4d41"/>
    <p:sldId xmlns:r="http://schemas.openxmlformats.org/officeDocument/2006/relationships" id="263" r:id="Rddba1673955d4474"/>
    <p:sldId xmlns:r="http://schemas.openxmlformats.org/officeDocument/2006/relationships" id="264" r:id="R0674bff40a1947a7"/>
    <p:sldId xmlns:r="http://schemas.openxmlformats.org/officeDocument/2006/relationships" id="265" r:id="Rda0ebbb7c42942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dc4d1e803a4822" /><Relationship Type="http://schemas.openxmlformats.org/officeDocument/2006/relationships/slideMaster" Target="/ppt/slideMasters/slideMaster1.xml" Id="R88d140bdbcbb4d5a" /><Relationship Type="http://schemas.openxmlformats.org/officeDocument/2006/relationships/notesMaster" Target="/ppt/notesMasters/notesMaster1.xml" Id="R895a5b433b284f08" /><Relationship Type="http://schemas.openxmlformats.org/officeDocument/2006/relationships/presProps" Target="/ppt/presProps.xml" Id="Rddcb47094ebb4a10" /><Relationship Type="http://schemas.openxmlformats.org/officeDocument/2006/relationships/tableStyles" Target="/ppt/tableStyles.xml" Id="R1ce0ae77aa794a1f" /><Relationship Type="http://schemas.openxmlformats.org/officeDocument/2006/relationships/slide" Target="/ppt/slides/slide1.xml" Id="R303dbea7836c42c4" /><Relationship Type="http://schemas.openxmlformats.org/officeDocument/2006/relationships/slide" Target="/ppt/slides/slide2.xml" Id="R3e4c920b30de4078" /><Relationship Type="http://schemas.openxmlformats.org/officeDocument/2006/relationships/slide" Target="/ppt/slides/slide3.xml" Id="Rf8ba05bf032d426c" /><Relationship Type="http://schemas.openxmlformats.org/officeDocument/2006/relationships/slide" Target="/ppt/slides/slide4.xml" Id="R0fddfd96aa1148b8" /><Relationship Type="http://schemas.openxmlformats.org/officeDocument/2006/relationships/slide" Target="/ppt/slides/slide5.xml" Id="Rd2a5ff2c04a146e9" /><Relationship Type="http://schemas.openxmlformats.org/officeDocument/2006/relationships/slide" Target="/ppt/slides/slide6.xml" Id="R2f23bb156f6c4aa6" /><Relationship Type="http://schemas.openxmlformats.org/officeDocument/2006/relationships/slide" Target="/ppt/slides/slide7.xml" Id="R3c26a4d2054f4d41" /><Relationship Type="http://schemas.openxmlformats.org/officeDocument/2006/relationships/slide" Target="/ppt/slides/slide8.xml" Id="Rddba1673955d4474" /><Relationship Type="http://schemas.openxmlformats.org/officeDocument/2006/relationships/slide" Target="/ppt/slides/slide9.xml" Id="R0674bff40a1947a7" /><Relationship Type="http://schemas.openxmlformats.org/officeDocument/2006/relationships/slide" Target="/ppt/slides/slide10.xml" Id="Rda0ebbb7c429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f5457a1cd24f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38550d9e24051" /><Relationship Type="http://schemas.openxmlformats.org/officeDocument/2006/relationships/notesMaster" Target="/ppt/notesMasters/notesMaster1.xml" Id="R011cce844bf64f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8875bc6b91448b" /><Relationship Type="http://schemas.openxmlformats.org/officeDocument/2006/relationships/notesMaster" Target="/ppt/notesMasters/notesMaster1.xml" Id="R8ed3c0283dfb41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aa4243eed446d8" /><Relationship Type="http://schemas.openxmlformats.org/officeDocument/2006/relationships/notesMaster" Target="/ppt/notesMasters/notesMaster1.xml" Id="R84426fdaf94e4b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6bf9333ba44e70" /><Relationship Type="http://schemas.openxmlformats.org/officeDocument/2006/relationships/notesMaster" Target="/ppt/notesMasters/notesMaster1.xml" Id="R884e8a6782554e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d11e756b5946b5" /><Relationship Type="http://schemas.openxmlformats.org/officeDocument/2006/relationships/notesMaster" Target="/ppt/notesMasters/notesMaster1.xml" Id="R515e62864f8b49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f15ccd0d604b83" /><Relationship Type="http://schemas.openxmlformats.org/officeDocument/2006/relationships/notesMaster" Target="/ppt/notesMasters/notesMaster1.xml" Id="R95fe31a61cbd41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f283be9b9144c9" /><Relationship Type="http://schemas.openxmlformats.org/officeDocument/2006/relationships/notesMaster" Target="/ppt/notesMasters/notesMaster1.xml" Id="R09b80548d63443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c8fd1f0a4c4fad" /><Relationship Type="http://schemas.openxmlformats.org/officeDocument/2006/relationships/notesMaster" Target="/ppt/notesMasters/notesMaster1.xml" Id="Rd91229bc735b4e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90afcb3bbf41a2" /><Relationship Type="http://schemas.openxmlformats.org/officeDocument/2006/relationships/notesMaster" Target="/ppt/notesMasters/notesMaster1.xml" Id="R6977e6243b604e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9053b98db749a4" /><Relationship Type="http://schemas.openxmlformats.org/officeDocument/2006/relationships/notesMaster" Target="/ppt/notesMasters/notesMaster1.xml" Id="R14b72fff8033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reports/results/schema_summary.json; reports/results/bronze_silver_gold_report.json; docs/VISUALIZATIONS.md.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docs/PROJECT_REPORT.md; reports/figures/feature_mart_availability.png.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docs/PROJECT_REPORT.md.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reports/results/schema_summary.json; reports/figures/dataset_publications_by_year.png.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reports/results/data_quality_report.json; reports/results/bronze_silver_gold_report.json; reports/figures/data_quality_checks.png; reports/figures/pipeline_stage_counts.png.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reports/results/text_analysis_report.json; reports/results/clustering_report.json; reports/figures/text_top_terms.png; reports/figures/clustering_results.png.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reports/results/citation_graph_report.json; reports/results/author_collaboration_report.json; reports/results/temporal_analysis_report.json.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reports/results/retrieval_report.json; reports/results/advanced_retrieval_results.json; reports/results/ml_citation_prediction_report.json.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reports/results/feature_mart_report.json; docs/PROJECT_REPORT.md; docs/VISUALIZATIONS.md.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docs/LIMITATIONS.md; docs/PROJECT_REPORT.md. Metrics reflect the completed 2,500-record development run, not the in-progress 1,000,000-record production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b24376ff643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77a16ddf964b56" /><Relationship Type="http://schemas.openxmlformats.org/officeDocument/2006/relationships/slideLayout" Target="/ppt/slideLayouts/slideLayout1.xml" Id="R31f33cb2d0b341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33cb2d0b341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fbda90df4817" /><Relationship Type="http://schemas.openxmlformats.org/officeDocument/2006/relationships/notesSlide" Target="/ppt/notesSlides/notesSlide1.xml" Id="R8aac5a2750f94b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eafdf168b4b64" /><Relationship Type="http://schemas.openxmlformats.org/officeDocument/2006/relationships/image" Target="/ppt/media/image.png" Id="R08797740164c44dd" /><Relationship Type="http://schemas.openxmlformats.org/officeDocument/2006/relationships/notesSlide" Target="/ppt/notesSlides/notesSlide2.xml" Id="Rb821f933b1c94c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edc4ccc14112" /><Relationship Type="http://schemas.openxmlformats.org/officeDocument/2006/relationships/notesSlide" Target="/ppt/notesSlides/notesSlide3.xml" Id="Ra8dcb22659d5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fcbd494d42fa" /><Relationship Type="http://schemas.openxmlformats.org/officeDocument/2006/relationships/image" Target="/ppt/media/image2.png" Id="R504374047ab6466f" /><Relationship Type="http://schemas.openxmlformats.org/officeDocument/2006/relationships/notesSlide" Target="/ppt/notesSlides/notesSlide4.xml" Id="R989ee72dedbd49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7b1c3df674eaf" /><Relationship Type="http://schemas.openxmlformats.org/officeDocument/2006/relationships/image" Target="/ppt/media/image3.png" Id="R108f0bcc76214f58" /><Relationship Type="http://schemas.openxmlformats.org/officeDocument/2006/relationships/image" Target="/ppt/media/image4.png" Id="Rf159052fbc8d4561" /><Relationship Type="http://schemas.openxmlformats.org/officeDocument/2006/relationships/notesSlide" Target="/ppt/notesSlides/notesSlide5.xml" Id="R22e0067e044e45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460fe448e4d78" /><Relationship Type="http://schemas.openxmlformats.org/officeDocument/2006/relationships/image" Target="/ppt/media/image5.png" Id="R3f736da3301f4b17" /><Relationship Type="http://schemas.openxmlformats.org/officeDocument/2006/relationships/image" Target="/ppt/media/image6.png" Id="R6ca1ed19804b4b5f" /><Relationship Type="http://schemas.openxmlformats.org/officeDocument/2006/relationships/notesSlide" Target="/ppt/notesSlides/notesSlide6.xml" Id="Rb5170bdd589e40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56799e81140f0" /><Relationship Type="http://schemas.openxmlformats.org/officeDocument/2006/relationships/image" Target="/ppt/media/image7.png" Id="Rf0f7647f9cfe40c6" /><Relationship Type="http://schemas.openxmlformats.org/officeDocument/2006/relationships/image" Target="/ppt/media/image8.png" Id="R267e38e3d56e4f46" /><Relationship Type="http://schemas.openxmlformats.org/officeDocument/2006/relationships/notesSlide" Target="/ppt/notesSlides/notesSlide7.xml" Id="R3b84bff3ff6f48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90e83cb24459f" /><Relationship Type="http://schemas.openxmlformats.org/officeDocument/2006/relationships/notesSlide" Target="/ppt/notesSlides/notesSlide8.xml" Id="Rea0832c7f52b4b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93944ad474719" /><Relationship Type="http://schemas.openxmlformats.org/officeDocument/2006/relationships/image" Target="/ppt/media/image9.png" Id="Rcbbafca2f6cc4cd2" /><Relationship Type="http://schemas.openxmlformats.org/officeDocument/2006/relationships/image" Target="/ppt/media/image10.png" Id="R16721001852d41d3" /><Relationship Type="http://schemas.openxmlformats.org/officeDocument/2006/relationships/notesSlide" Target="/ppt/notesSlides/notesSlide9.xml" Id="R145e7dd982ab46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f7e9479af451a" /><Relationship Type="http://schemas.openxmlformats.org/officeDocument/2006/relationships/notesSlide" Target="/ppt/notesSlides/notesSlide10.xml" Id="R78b7889e08324a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0DA82-11AC-4207-B430-C5C67B30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875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693AE-79C6-421A-9E23-29235D6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SciGraph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16967-89DD-42A1-AB7E-FB85F945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FE6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FE6E6"/>
                </a:solidFill>
                <a:latin typeface="Arial"/>
                <a:ea typeface="Arial"/>
                <a:cs typeface="Arial"/>
              </a:rPr>
              <a:t>Scalable scientific literature intelligence over OpenAlex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A6898-9D4A-49D6-8AB3-098E074A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reproducible Spark pipeline with text, graph, temporal, retrieval, ML, ranking, and visualization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CD653-8A53-414C-B2B3-1F35675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8F46D-4C73-4300-8B4D-8F199B35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OpenAlex article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417B9-6796-4A9D-B5BD-4F53410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62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53,877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4EDAC-F864-4508-8E08-BF9B458F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Gold citation edges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E4BA3-1988-4681-BA89-091FED96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62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3E0FE-8837-4B79-8D42-A91F781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96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Generated figures</a:t>
            </a:r>
          </a:p>
        </p:txBody>
      </p:sp>
    </p:spTree>
    <p:extLst>
      <p:ext uri="{BB962C8B-B14F-4D97-AF65-F5344CB8AC3E}">
        <p14:creationId xmlns:p14="http://schemas.microsoft.com/office/powerpoint/2010/main" val="2065460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A4C2E-C9D0-4829-8791-3631B4C5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A2908-8798-4D81-B53E-B90977DD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BE4A7-6A7E-435D-A888-69E36E05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E06E5-C336-4D7F-A4E1-DDA0B67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Build a transparent literature analytics system without relying on an LLM-only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BC1AC-04D1-4E74-9773-EEFE0169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The project turns raw scholarly metadata into analysis-ready tables, reports, and visual evidence. The emphasis is on reproducibility, measured results, and clear limitations.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D55D6-1B67-4705-A427-D9AE754A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1. Acquire OpenAlex article records with abstracts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62E89-2B28-44B2-88C0-23FF406A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2. Normalize nested metadata with Spark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69B24-A529-47AD-8399-B9F1A208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3. Analyze text, citation links, collaboration, and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9C28F-D712-43C3-98B7-E2E55365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4. Compare sparse, dense, hybrid, and graph-aware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97AE9-D098-46E7-BF7B-C6BA298B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5. Publish a feature mart, figures, notebook, and final report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97740164c44dd"/>
          <a:stretch xmlns:a="http://schemas.openxmlformats.org/drawingml/2006/main"/>
        </p:blipFill>
        <p:spPr>
          <a:xfrm xmlns:a="http://schemas.openxmlformats.org/drawingml/2006/main">
            <a:off x="7239000" y="2055019"/>
            <a:ext cx="4095750" cy="22526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37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23268-41F1-494B-90AA-4A5C6EF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90ECF-FC56-48E0-8303-5EC9ECCC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A2B9D-D742-44B7-863A-A6B960F0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4DCC9-F7F3-42D8-B807-46A763EB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A layered pipeline keeps raw data, normalized tables, and analysis outputs separate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E54D1-ACD6-4D8A-AEDE-FA04EC2B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2AA8A-0FEA-421A-BD17-A244D34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7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OpenAlex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10C1D-B2CC-4704-8D70-E91CAE3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Raw JSONL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80B2B-6F21-40F4-AF0B-43748B59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E818B-5A63-4FD8-A4A6-35017DAA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C1DB1-D564-4FA2-A476-F9454E64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2E59E-E346-4B79-BD35-87AC579C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Raw nested Spark 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A1B46-5A10-44F6-B235-F19CF985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D97B6-BAAD-4E4F-BD36-8E5821D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E23F4-3D37-45DE-A1BE-0B675BF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E2A5B-07FC-441E-8BF2-AABA4C8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Publication-level normalization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CA897-76EC-4119-940F-756E5315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F41FF-53EC-4B35-820C-704C9CA7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51D57-9149-41E4-8CD4-31E55FAC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753A6-9EC6-40A7-9455-518E59CA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Publications, authors, citations, topics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7774B-F58D-43A9-904C-137CFD71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1C8C9-40F9-41D2-8A6F-59688737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73A9B-C890-4597-AE6E-D7ED0DAF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EF0A2-E393-437B-AC17-1C314D4C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Text, graph, temporal, retrieval,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1AAAE-21C7-4255-8D82-8D8F8BF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5143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12869-E45B-4E0A-B101-DD3D3DA2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CD550-01F8-4961-A39A-5ABF2342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19A742-D0AC-48FD-BD04-3DF9267F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21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Reports, figures, tables, notebook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E06CC-316D-4548-A4D2-75E78667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Storage pattern: Parquet tables for data, JSON for metrics, Markdown for interpretation, PNG for figures.</a:t>
            </a:r>
          </a:p>
        </p:txBody>
      </p:sp>
    </p:spTree>
    <p:extLst>
      <p:ext uri="{BB962C8B-B14F-4D97-AF65-F5344CB8AC3E}">
        <p14:creationId xmlns:p14="http://schemas.microsoft.com/office/powerpoint/2010/main" val="566407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DC514-F481-4E76-9672-5CBA04D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64C6C-6FF0-49E5-A8E8-BFDEFEBA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85904-4FBC-4835-93D0-E8A28F2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Dataset And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52219-30E9-4CEF-B930-EC7FF9C7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completed run uses a larger 2,500-record sample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44767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375"/>
                <a:gridCol w="2238375"/>
              </a:tblGrid>
              <a:tr h="4921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Records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2500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Publication years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2020-2026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Unique authors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9274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Referenced works observed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53900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Document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article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374047ab6466f"/>
          <a:stretch xmlns:a="http://schemas.openxmlformats.org/drawingml/2006/main"/>
        </p:blipFill>
        <p:spPr>
          <a:xfrm xmlns:a="http://schemas.openxmlformats.org/drawingml/2006/main">
            <a:off x="5905500" y="1681163"/>
            <a:ext cx="5143500" cy="2828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51E59-FF89-424E-B4BF-4D07B9C6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sample remains heterogeneous, which helps test the pipeline but weakens claims about field-specific clusters.</a:t>
            </a:r>
          </a:p>
        </p:txBody>
      </p:sp>
    </p:spTree>
    <p:extLst>
      <p:ext uri="{BB962C8B-B14F-4D97-AF65-F5344CB8AC3E}">
        <p14:creationId xmlns:p14="http://schemas.microsoft.com/office/powerpoint/2010/main" val="2063939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62311-3E6B-4EB0-A1C8-6E22BAD1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FC1B6-853E-4851-82D2-B6A7079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909BF-A4F5-48C6-A1A5-75F948F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Quality And Spark Outputs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2EA5D-F185-44B8-8E45-CA80F602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No blocking quality errors appeared in the completed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64760-32CA-4656-BB94-D83F4B5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8C8B"/>
                </a:solidFill>
                <a:latin typeface="Arial"/>
                <a:ea typeface="Arial"/>
                <a:cs typeface="Arial"/>
              </a:rPr>
              <a:t>2500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1196B-7112-429D-8767-220EE17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Gold publications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C466D-2659-4A34-BC69-94E3ED4C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47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F6FB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F6FBB"/>
                </a:solidFill>
                <a:latin typeface="Arial"/>
                <a:ea typeface="Arial"/>
                <a:cs typeface="Arial"/>
              </a:rPr>
              <a:t>9274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2BA34-240F-4CF7-A0ED-554C945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05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Gold authors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1DAB0-0BDC-4044-A58C-827F203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47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53877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856BE-5C9B-4F57-85F3-68CFD1D7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05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Citation edges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f0bcc76214f58"/>
          <a:stretch xmlns:a="http://schemas.openxmlformats.org/drawingml/2006/main"/>
        </p:blipFill>
        <p:spPr>
          <a:xfrm xmlns:a="http://schemas.openxmlformats.org/drawingml/2006/main">
            <a:off x="876300" y="3018234"/>
            <a:ext cx="4333875" cy="238363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9052fbc8d4561"/>
          <a:stretch xmlns:a="http://schemas.openxmlformats.org/drawingml/2006/main"/>
        </p:blipFill>
        <p:spPr>
          <a:xfrm xmlns:a="http://schemas.openxmlformats.org/drawingml/2006/main">
            <a:off x="6229350" y="3018234"/>
            <a:ext cx="4333875" cy="23836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91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84979-D6AE-4537-BED3-E9E5A96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0ED94-0588-41E9-8BB9-892995B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33173-EB75-43FA-AECD-8D8E8A82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Text Analysis And Clustering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23F27-EAD2-4078-9772-90028A01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Text features scale, but clusters remain exploratory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C4906-FC01-4EC6-87F5-B7583C97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8C8B"/>
                </a:solidFill>
                <a:latin typeface="Arial"/>
                <a:ea typeface="Arial"/>
                <a:cs typeface="Arial"/>
              </a:rPr>
              <a:t>1793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6AD7E-DDB3-46D2-B646-D267CF16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English text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C2C43-A78F-4E77-B090-A8C58EC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F6FB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F6FBB"/>
                </a:solidFill>
                <a:latin typeface="Arial"/>
                <a:ea typeface="Arial"/>
                <a:cs typeface="Arial"/>
              </a:rPr>
              <a:t>26728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D6195-721E-40DB-994E-AE693B80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Retained vocabulary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84627-66B4-419F-8B21-A177BC04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DFE47-BE18-414E-8064-D5AD4B44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Selected K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36da3301f4b17"/>
          <a:stretch xmlns:a="http://schemas.openxmlformats.org/drawingml/2006/main"/>
        </p:blipFill>
        <p:spPr>
          <a:xfrm xmlns:a="http://schemas.openxmlformats.org/drawingml/2006/main">
            <a:off x="685800" y="2862263"/>
            <a:ext cx="4762500" cy="26193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1ed19804b4b5f"/>
          <a:stretch xmlns:a="http://schemas.openxmlformats.org/drawingml/2006/main"/>
        </p:blipFill>
        <p:spPr>
          <a:xfrm xmlns:a="http://schemas.openxmlformats.org/drawingml/2006/main">
            <a:off x="6153150" y="3089564"/>
            <a:ext cx="4762500" cy="21647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4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D06A3-6669-414A-91ED-502F9B40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AD5E0-1A37-4175-B19F-AB887F13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8968D-B795-4232-847B-691F247E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Graph And Temporal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DB118-CAC0-4A68-904B-AAC60F8D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Collaboration is informative, while sampled citation links remain sparse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9BD58-7075-4110-9280-00F8D4D3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Citation graph: 53,877 full edges, but 0 in-sample citation edges. PageRank is therefore limited for ranking sampled papers.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33C1A-ED8B-4254-8761-E42BE64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Author graph: 9,274 authors and 33,104 coauthor edges across the current sample.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2DB03-29FF-49FF-AEF2-D13B406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Temporal analysis: 7 year buckets and 5,566 topic-year rows.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7647f9cfe40c6"/>
          <a:stretch xmlns:a="http://schemas.openxmlformats.org/drawingml/2006/main"/>
        </p:blipFill>
        <p:spPr>
          <a:xfrm xmlns:a="http://schemas.openxmlformats.org/drawingml/2006/main">
            <a:off x="6323301" y="1200150"/>
            <a:ext cx="4069773" cy="22383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e38e3d56e4f46"/>
          <a:stretch xmlns:a="http://schemas.openxmlformats.org/drawingml/2006/main"/>
        </p:blipFill>
        <p:spPr>
          <a:xfrm xmlns:a="http://schemas.openxmlformats.org/drawingml/2006/main">
            <a:off x="6539778" y="3638550"/>
            <a:ext cx="3636818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3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C8E29-0462-433E-9599-774C0ADA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8D613-C488-4B5C-BE69-8A769BC1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CE41A-999D-4606-A276-DC55181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Retrieval And ML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4DDAC-F859-4A3C-8351-F76F3051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Graph-aware reranking produced the strongest NDCG in the current comparison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52450" y="1314450"/>
          <a:ext xmlns:a="http://schemas.openxmlformats.org/drawingml/2006/main" cx="6667500" cy="2905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  <a:gridCol w="1333500"/>
                <a:gridCol w="1333500"/>
              </a:tblGrid>
              <a:tr h="484188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P@10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Recall@10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MRR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NDCG@10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bm25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0.54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dense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0.20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hybrid reranked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0.57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hybrid reranked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t>hybrid rrf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FA19-7051-460E-A646-623713E1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8C8B"/>
                </a:solidFill>
                <a:latin typeface="Arial"/>
                <a:ea typeface="Arial"/>
                <a:cs typeface="Arial"/>
              </a:rPr>
              <a:t>0.6188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A1C1B-F125-49B2-ADBC-3C8DF265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85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Best NDCG@10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932BA-AF90-407F-9CA2-D529AB0B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F6FB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F6FBB"/>
                </a:solidFill>
                <a:latin typeface="Arial"/>
                <a:ea typeface="Arial"/>
                <a:cs typeface="Arial"/>
              </a:rPr>
              <a:t>0.36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6E419-2EC2-4556-8AAC-8A8AAB75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Sparse P@10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D82C9-5FAD-470D-BBB6-7AF810F6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433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58A2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C58A25"/>
                </a:solidFill>
                <a:latin typeface="Arial"/>
                <a:ea typeface="Arial"/>
                <a:cs typeface="Arial"/>
              </a:rPr>
              <a:t>0.9174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9B87F-8C57-468B-91BD-DEB85D45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005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Citation model AUC</a:t>
            </a:r>
          </a:p>
        </p:txBody>
      </p:sp>
    </p:spTree>
    <p:extLst>
      <p:ext uri="{BB962C8B-B14F-4D97-AF65-F5344CB8AC3E}">
        <p14:creationId xmlns:p14="http://schemas.microsoft.com/office/powerpoint/2010/main" val="230531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DA5B4-3FFE-4A20-ADF8-14ACFC16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7AF05-8AD4-48D2-9D96-D24ECDB2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7CB03-CDE8-4B6D-AB22-7D020719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 Mart And Review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ACAC-3DBD-4431-AAFB-D21770E2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project now has a single inspection surface plus presentation-ready outputs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58A2A-F5EE-4A0F-8204-0AA8D3E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The feature mart preserves 2,500 publication rows and 34 columns. Text-derived features cover 71.7% of rows, while ranking features cover 100.0%.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afca2f6cc4cd2"/>
          <a:stretch xmlns:a="http://schemas.openxmlformats.org/drawingml/2006/main"/>
        </p:blipFill>
        <p:spPr>
          <a:xfrm xmlns:a="http://schemas.openxmlformats.org/drawingml/2006/main">
            <a:off x="6381750" y="1240631"/>
            <a:ext cx="4095750" cy="2252663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21001852d41d3"/>
          <a:stretch xmlns:a="http://schemas.openxmlformats.org/drawingml/2006/main"/>
        </p:blipFill>
        <p:spPr>
          <a:xfrm xmlns:a="http://schemas.openxmlformats.org/drawingml/2006/main">
            <a:off x="6762750" y="3752850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0203-2F21-417B-8D84-986A2A6C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Review paths: PROJECT_REPORT.md, VISUALIZATIONS.md, reports/tables CSV files, and notebooks/scigraph_visual_summary.ipynb.</a:t>
            </a:r>
          </a:p>
        </p:txBody>
      </p:sp>
    </p:spTree>
    <p:extLst>
      <p:ext uri="{BB962C8B-B14F-4D97-AF65-F5344CB8AC3E}">
        <p14:creationId xmlns:p14="http://schemas.microsoft.com/office/powerpoint/2010/main" val="2079629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3360D-87C8-4690-B303-5D0BE005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FDEAB-1103-4401-86B1-93CE1BC8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09269-00B2-4C9C-B060-7B49CEE3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Limitations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33128-5EB2-4EDA-ACFD-523F73D4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B78"/>
                </a:solidFill>
                <a:latin typeface="Arial"/>
                <a:ea typeface="Arial"/>
                <a:cs typeface="Arial"/>
              </a:rPr>
              <a:t>The strongest deliverable is the reproducible system and its measured evidence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86125"/>
                <a:gridCol w="3286125"/>
              </a:tblGrid>
              <a:tr h="628650">
                <a:tc>
                  <a:txBody>
                    <a:bodyPr/>
                    <a:lstStyle/>
                    <a:p>
                      <a:r>
                        <a:t>Current limitation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matters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Heterogeneous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Clusters do not represent validated research fields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No in-sample citation edges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PageRank has limited value for sampled-paper ranking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Proxy retrieval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Metrics need human judgments for stronger claims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Static streaming replay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streaming would need checkpointed inputs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9E1E8-542E-4F43-AAB2-50E926E1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09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Recommended extensions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76F13-B96F-48AE-977F-59693649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669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1. Acquire a field-specific or citation-neighborhood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ECD2C-39F4-4727-B6C7-6CA0FD0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955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2. Add human relevance judgments for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9B744-C034-4A16-8DA9-9ACAB250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242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3. Build a semantic index with FAISS or Chroma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A79F4-64B2-4ACF-A6C8-0B8B9EE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528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4. Turn the notebook into an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062953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2026-10-06T06:12:39.8180000Z</dcterms:created>
  <dcterms:modified xsi:type="dcterms:W3CDTF">2026-10-06T06:12:39.8180000Z</dcterms:modified>
</coreProperties>
</file>